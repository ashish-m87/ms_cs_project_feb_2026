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74" r:id="rId4"/>
    <p:sldId id="275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78"/>
    <p:restoredTop sz="97020"/>
  </p:normalViewPr>
  <p:slideViewPr>
    <p:cSldViewPr snapToGrid="0" snapToObjects="1">
      <p:cViewPr varScale="1">
        <p:scale>
          <a:sx n="207" d="100"/>
          <a:sy n="207" d="100"/>
        </p:scale>
        <p:origin x="592" y="1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7399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AA209-4B19-4DC3-454B-D4E39A1EB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C5376D-68BE-37E7-2E12-48A27BB5DC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8A76D2-548C-47F4-DCD9-8649DDC86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44852-C458-B5B5-D181-922E1DF17A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3671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3A99F-0082-D4B6-AE93-B8E19A095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4CF175-AE85-BA24-D779-3EEF56494E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2651C0-EDA7-8C90-8EA0-210803516A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9F09E-651F-EF13-16C1-9312FEF99F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8264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https://github.com/Ashish-M87/MS_CS_Project_Feb_2026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D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365760"/>
            <a:ext cx="1463040" cy="36576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C++  /  Qt6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23760" y="365760"/>
            <a:ext cx="1463040" cy="3657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223760" y="365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 / PySide6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Tracker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vs Python — Language Comparison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743200" y="2697480"/>
            <a:ext cx="3657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Language Application Development — Team 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1371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EB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Parthasarathi </a:t>
            </a:r>
            <a:r>
              <a:rPr lang="en-US" sz="1400" b="1" dirty="0" err="1">
                <a:solidFill>
                  <a:srgbClr val="7EB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Ponnapalli</a:t>
            </a:r>
            <a:r>
              <a:rPr lang="en-US" sz="14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		</a:t>
            </a:r>
            <a:r>
              <a:rPr lang="en-US" sz="1400" b="1" dirty="0">
                <a:solidFill>
                  <a:srgbClr val="6BC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Mahajan</a:t>
            </a:r>
            <a:endParaRPr lang="en-US" sz="1400" dirty="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2E52497C-88FE-0FCE-A2F9-F116C9EE7F54}"/>
              </a:ext>
            </a:extLst>
          </p:cNvPr>
          <p:cNvSpPr/>
          <p:nvPr/>
        </p:nvSpPr>
        <p:spPr>
          <a:xfrm>
            <a:off x="228600" y="3653369"/>
            <a:ext cx="3966210" cy="146235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51CDE048-8D44-D835-09AB-946C04D22E74}"/>
              </a:ext>
            </a:extLst>
          </p:cNvPr>
          <p:cNvSpPr/>
          <p:nvPr/>
        </p:nvSpPr>
        <p:spPr>
          <a:xfrm>
            <a:off x="228600" y="3674056"/>
            <a:ext cx="3382944" cy="337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Group Members</a:t>
            </a:r>
            <a:endParaRPr lang="en-US" sz="18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90FA5167-C16B-ABD7-F52C-565A6E299D8C}"/>
              </a:ext>
            </a:extLst>
          </p:cNvPr>
          <p:cNvSpPr/>
          <p:nvPr/>
        </p:nvSpPr>
        <p:spPr>
          <a:xfrm>
            <a:off x="249107" y="4046220"/>
            <a:ext cx="3616250" cy="10112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/>
              <a:t> </a:t>
            </a:r>
          </a:p>
          <a:p>
            <a:r>
              <a:rPr lang="en-US" sz="1100" dirty="0"/>
              <a:t>Parthasarathi </a:t>
            </a:r>
            <a:r>
              <a:rPr lang="en-US" sz="1100" dirty="0" err="1"/>
              <a:t>Ponnapalli</a:t>
            </a:r>
            <a:endParaRPr lang="en-US" sz="1100" dirty="0"/>
          </a:p>
          <a:p>
            <a:r>
              <a:rPr lang="en-US" sz="1100" dirty="0"/>
              <a:t>Ashish Mahajan</a:t>
            </a:r>
            <a:br>
              <a:rPr lang="en-US" sz="1100" dirty="0"/>
            </a:br>
            <a:endParaRPr lang="en-US" sz="1100" dirty="0"/>
          </a:p>
          <a:p>
            <a:r>
              <a:rPr lang="en-US" sz="1100" dirty="0"/>
              <a:t>University of the Cumberlands</a:t>
            </a:r>
          </a:p>
          <a:p>
            <a:r>
              <a:rPr lang="en-US" sz="1100" dirty="0"/>
              <a:t>Advanced Programming Languages (MSCS-632)</a:t>
            </a:r>
          </a:p>
          <a:p>
            <a:r>
              <a:rPr lang="en-US" sz="1100" dirty="0"/>
              <a:t>February 22, 2026</a:t>
            </a:r>
          </a:p>
          <a:p>
            <a:pPr>
              <a:buSzPct val="100000"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868680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desktop Expense Tracker built TWICE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once in C++ with Qt6, once in Python with PySide6.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features. Same .ui files. Same JSON data. Two completely different languages.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9260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CRUD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2004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· Edit · Delete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validation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233172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14600" y="23774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14600" y="29260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14600" y="32004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dropdown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33172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23774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63440" y="29260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Panel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32004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· Pie chart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12280" y="233172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12280" y="23774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812280" y="29260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12280" y="32004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switcher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management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39319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Shared: 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.ui files (Qt Designer)  ·  .qss stylesheet  ·  JSON data file  ·  MVC architecture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4297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Different: 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 ·  Memory model  ·  Type system  ·  Error detection timing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A96A4-B7F3-6BF1-84A3-D72DCF5E6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9EF57BBD-C1CA-7C4D-EFAC-69AB70D4DBB4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C010514-8A39-BFFB-962C-4F56DFE91FA7}"/>
              </a:ext>
            </a:extLst>
          </p:cNvPr>
          <p:cNvSpPr/>
          <p:nvPr/>
        </p:nvSpPr>
        <p:spPr>
          <a:xfrm>
            <a:off x="164592" y="0"/>
            <a:ext cx="8979408" cy="63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UI (PySide6)</a:t>
            </a:r>
            <a:endParaRPr lang="en-US" sz="4800" dirty="0"/>
          </a:p>
        </p:txBody>
      </p:sp>
      <p:pic>
        <p:nvPicPr>
          <p:cNvPr id="6" name="Image 0" descr="/mnt/data/Screenshot 2026-02-21">
            <a:extLst>
              <a:ext uri="{FF2B5EF4-FFF2-40B4-BE49-F238E27FC236}">
                <a16:creationId xmlns:a16="http://schemas.microsoft.com/office/drawing/2014/main" id="{00E3CA5B-0BB8-CAF2-65DB-EA7F6C188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514" y="889000"/>
            <a:ext cx="6814689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488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88DC1-4DC8-731A-A1E7-40FA5DAE9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2EEFE8F-F139-69C2-A9F0-D524AF3B6AD5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271BFB6-F930-2CF8-2C06-6A0BC1E0EB81}"/>
              </a:ext>
            </a:extLst>
          </p:cNvPr>
          <p:cNvSpPr/>
          <p:nvPr/>
        </p:nvSpPr>
        <p:spPr>
          <a:xfrm>
            <a:off x="164592" y="0"/>
            <a:ext cx="8979408" cy="63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C++ UI (Qt6)</a:t>
            </a:r>
            <a:endParaRPr lang="en-US" sz="4800" dirty="0"/>
          </a:p>
        </p:txBody>
      </p:sp>
      <p:pic>
        <p:nvPicPr>
          <p:cNvPr id="2" name="Image 0" descr="/mnt/data/Screenshot Image 2026-02-21 ">
            <a:extLst>
              <a:ext uri="{FF2B5EF4-FFF2-40B4-BE49-F238E27FC236}">
                <a16:creationId xmlns:a16="http://schemas.microsoft.com/office/drawing/2014/main" id="{971A2509-5903-2CEA-E3E7-35B8D9857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632" y="1051560"/>
            <a:ext cx="6617328" cy="346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117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D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Representation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365760" y="2606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language models an expense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02920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/ Qt6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663440" y="0"/>
            <a:ext cx="4480560" cy="50292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663440" y="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PySide6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an Expense Record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37160" y="594360"/>
            <a:ext cx="429768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7160" y="594360"/>
            <a:ext cx="4297680" cy="2011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2024" y="5943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EB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28600" y="850392"/>
            <a:ext cx="411480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Typed struct — every field declared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ExpenseRecord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    id;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    userId;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QDate   date;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 amount;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QString category;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QString description;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Safe defaults at construction time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ExpenseRecord()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id(-1), userId(-1), amount(0.0) {}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isValid() const { ...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594360"/>
            <a:ext cx="429768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594360"/>
            <a:ext cx="4297680" cy="2011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64024" y="5943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C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00600" y="850392"/>
            <a:ext cx="411480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Dict — no fixed shape required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expense =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'date':        '2026-01-15',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'amount':      45.0,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'category':    'Food',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'description': 'Lunch',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'user':        'Alice',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Type hints added for safety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expenses: list[dict[str, Any]] = []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validate_expense() normalizes fields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at runtime before storing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7160" y="3429000"/>
            <a:ext cx="4297680" cy="777240"/>
          </a:xfrm>
          <a:prstGeom prst="rect">
            <a:avLst/>
          </a:prstGeom>
          <a:solidFill>
            <a:srgbClr val="D6E4F7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8600" y="347472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Compile-time guarantee: </a:t>
            </a: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type = error before the app runs. Fields cannot be missing.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3429000"/>
            <a:ext cx="4297680" cy="777240"/>
          </a:xfrm>
          <a:prstGeom prst="rect">
            <a:avLst/>
          </a:prstGeom>
          <a:solidFill>
            <a:srgbClr val="D4EDD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347472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Runtime flexibility: </a:t>
            </a: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boilerplate needed. validate_expense() enforces shape when data enters the system.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7160" y="4343400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difference: C++ catches wrong data at compile time. Python catches it at runtime.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02920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/ Qt6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663440" y="0"/>
            <a:ext cx="4480560" cy="50292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663440" y="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PySide6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Containers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37160" y="594360"/>
            <a:ext cx="429768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7160" y="594360"/>
            <a:ext cx="4297680" cy="2011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2024" y="5943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EB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28600" y="850392"/>
            <a:ext cx="41148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TYPED — can only hold ExpenseRecord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std::vector&lt;ExpenseRecord&gt; m_expenses;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std::vector&lt;UserRecord&gt;    m_users;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SORTED automatically by key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std::map&lt;QString, double&gt; totals;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totals[category] += amount;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Filtering — manual loop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(auto&amp; e : m_expenses)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(e.userId==id &amp;&amp; e.date&gt;=from)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result.push_back(e);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594360"/>
            <a:ext cx="429768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594360"/>
            <a:ext cx="4297680" cy="2011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64024" y="5943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C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00600" y="850392"/>
            <a:ext cx="41148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Untyped — holds anything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self.expenses: list[dict[str, Any]] = []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Filtering — list comprehension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filtered = [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 for e in self.expenses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e['user'] == user_filter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from_dt &lt;= date &lt;= to_dt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Auto-initialising totals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defaultdict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totals: defaultdict[str, float] = defaultdict(float)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7160" y="3017520"/>
            <a:ext cx="2011680" cy="384048"/>
          </a:xfrm>
          <a:prstGeom prst="rect">
            <a:avLst/>
          </a:prstGeom>
          <a:solidFill>
            <a:srgbClr val="E8EF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7160" y="3017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0" y="3017520"/>
            <a:ext cx="2286000" cy="384048"/>
          </a:xfrm>
          <a:prstGeom prst="rect">
            <a:avLst/>
          </a:prstGeom>
          <a:solidFill>
            <a:srgbClr val="D6E4F7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286000" y="30175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std::vector&lt;T&gt; — typed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297680" cy="384048"/>
          </a:xfrm>
          <a:prstGeom prst="rect">
            <a:avLst/>
          </a:prstGeom>
          <a:solidFill>
            <a:srgbClr val="D4EDD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09160" y="301752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— accepts anything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37160" y="3474720"/>
            <a:ext cx="2011680" cy="384048"/>
          </a:xfrm>
          <a:prstGeom prst="rect">
            <a:avLst/>
          </a:prstGeom>
          <a:solidFill>
            <a:srgbClr val="E8EF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37160" y="34747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map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0" y="3474720"/>
            <a:ext cx="2286000" cy="384048"/>
          </a:xfrm>
          <a:prstGeom prst="rect">
            <a:avLst/>
          </a:prstGeom>
          <a:solidFill>
            <a:srgbClr val="D6E4F7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286000" y="34747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std::map — typed + auto-sorted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474720"/>
            <a:ext cx="4297680" cy="384048"/>
          </a:xfrm>
          <a:prstGeom prst="rect">
            <a:avLst/>
          </a:prstGeom>
          <a:solidFill>
            <a:srgbClr val="D4EDD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09160" y="347472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defaultdict(float) — flexible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37160" y="3931920"/>
            <a:ext cx="2011680" cy="384048"/>
          </a:xfrm>
          <a:prstGeom prst="rect">
            <a:avLst/>
          </a:prstGeom>
          <a:solidFill>
            <a:srgbClr val="E8EF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37160" y="3931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0" y="3931920"/>
            <a:ext cx="2286000" cy="384048"/>
          </a:xfrm>
          <a:prstGeom prst="rect">
            <a:avLst/>
          </a:prstGeom>
          <a:solidFill>
            <a:srgbClr val="D6E4F7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286000" y="39319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for-loop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931920"/>
            <a:ext cx="4297680" cy="384048"/>
          </a:xfrm>
          <a:prstGeom prst="rect">
            <a:avLst/>
          </a:prstGeom>
          <a:solidFill>
            <a:srgbClr val="D4EDD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09160" y="393192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 (concise)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D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365760" y="2606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objects and who cleans them up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02920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/ Qt6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663440" y="0"/>
            <a:ext cx="4480560" cy="50292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663440" y="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PySide6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&amp; Cleanup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37160" y="594360"/>
            <a:ext cx="4297680" cy="2423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7160" y="594360"/>
            <a:ext cx="4297680" cy="2011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2024" y="5943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EB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28600" y="850392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Manually owned — we delete these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Ui::MainWindow*    m_ui;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ExpenseRepository* m_repo;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ExpenseTableModel* m_model;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Qt parent-child — auto-deleted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QSortFilterProxyModel* m_proxy;  // parent=this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SummaryWidget*         m_summary;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Stack allocation — no new/delete at all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main(int argc, char* argv[])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QApplication app(argc, argv);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MainWindow window;  // RAII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// destructors called automatically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594360"/>
            <a:ext cx="4297680" cy="2423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594360"/>
            <a:ext cx="4297680" cy="2011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64024" y="5943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C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00600" y="850392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 handles this automatically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via reference counting (CPython GC)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MainWindow: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self.manager = ExpenseManager()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self.model   = ExpenseTableModel()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When window goes out of scope,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GC decrements reference counts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and frees objects — eventually.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destructors, no delete, no RAII.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7160" y="3154680"/>
            <a:ext cx="1924843" cy="777240"/>
          </a:xfrm>
          <a:prstGeom prst="rect">
            <a:avLst/>
          </a:prstGeom>
          <a:solidFill>
            <a:srgbClr val="D6E4F7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37160" y="3154680"/>
            <a:ext cx="1924843" cy="45719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8600" y="32004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new/delete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" y="3474720"/>
            <a:ext cx="171680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 controls exact moment of cleanup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53443" y="3145535"/>
            <a:ext cx="1577800" cy="777240"/>
          </a:xfrm>
          <a:prstGeom prst="rect">
            <a:avLst/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153443" y="3145535"/>
            <a:ext cx="15778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244883" y="3191255"/>
            <a:ext cx="12101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 parent-child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44883" y="3465575"/>
            <a:ext cx="163978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 deletes child widgets when parent closes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3154680"/>
            <a:ext cx="274320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263640" y="3163824"/>
            <a:ext cx="2743200" cy="4571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63640" y="32004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RAII / Stack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34747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Destructor runs automatically at scope exit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869937" y="3136730"/>
            <a:ext cx="2302263" cy="777240"/>
          </a:xfrm>
          <a:prstGeom prst="rect">
            <a:avLst/>
          </a:prstGeom>
          <a:solidFill>
            <a:srgbClr val="D4EDD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869937" y="3135471"/>
            <a:ext cx="2302263" cy="64927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912895" y="3211109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GC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912895" y="3459977"/>
            <a:ext cx="198621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counting frees objects automatically — no manual cleanup ever needed.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37160" y="4069080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cleanup is deterministic (exact moment known). Python GC cleanup is non-deterministic ("sometime later").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D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System &amp; Safety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365760" y="2606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 errors get caught?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3926" y="3611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vs Runtime Safety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95942" cy="27432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7160" y="1234440"/>
            <a:ext cx="1737360" cy="658368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" y="1234440"/>
            <a:ext cx="173736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containers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965960" y="1234440"/>
            <a:ext cx="3291840" cy="658368"/>
          </a:xfrm>
          <a:prstGeom prst="rect">
            <a:avLst/>
          </a:prstGeom>
          <a:solidFill>
            <a:srgbClr val="D6E4F7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057400" y="1271016"/>
            <a:ext cx="3108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std::vector&lt;ExpenseRecord&gt; cannot hold a string — compiler error immediately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49240" y="1234440"/>
            <a:ext cx="3657600" cy="658368"/>
          </a:xfrm>
          <a:prstGeom prst="rect">
            <a:avLst/>
          </a:prstGeom>
          <a:solidFill>
            <a:srgbClr val="D4EDDA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40680" y="1271016"/>
            <a:ext cx="3474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accepts anything — mistake only visible at runtime when .amount fails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" y="1984248"/>
            <a:ext cx="1737360" cy="658368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" y="1984248"/>
            <a:ext cx="173736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correctness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965960" y="1984248"/>
            <a:ext cx="3291840" cy="658368"/>
          </a:xfrm>
          <a:prstGeom prst="rect">
            <a:avLst/>
          </a:prstGeom>
          <a:solidFill>
            <a:srgbClr val="D6E4F7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57400" y="2020824"/>
            <a:ext cx="3108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on method = compiler verifies it never modifies data. const&amp; = read-only reference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49240" y="1984248"/>
            <a:ext cx="3657600" cy="658368"/>
          </a:xfrm>
          <a:prstGeom prst="rect">
            <a:avLst/>
          </a:prstGeom>
          <a:solidFill>
            <a:srgbClr val="D4EDDA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40680" y="2020824"/>
            <a:ext cx="3474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equivalent — runtime convention only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7160" y="2734056"/>
            <a:ext cx="1737360" cy="658368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7160" y="2734056"/>
            <a:ext cx="173736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keyword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965960" y="2734056"/>
            <a:ext cx="3291840" cy="658368"/>
          </a:xfrm>
          <a:prstGeom prst="rect">
            <a:avLst/>
          </a:prstGeom>
          <a:solidFill>
            <a:srgbClr val="D6E4F7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057400" y="2770632"/>
            <a:ext cx="3108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 in overridden method name → compiler error. Saves hours of debugging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49240" y="2734056"/>
            <a:ext cx="3657600" cy="658368"/>
          </a:xfrm>
          <a:prstGeom prst="rect">
            <a:avLst/>
          </a:prstGeom>
          <a:solidFill>
            <a:srgbClr val="D4EDDA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40680" y="2770632"/>
            <a:ext cx="3474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equivalent — wrong name creates new method silently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37160" y="3483864"/>
            <a:ext cx="1737360" cy="658368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37160" y="3483864"/>
            <a:ext cx="173736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members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965960" y="3483864"/>
            <a:ext cx="3291840" cy="658368"/>
          </a:xfrm>
          <a:prstGeom prst="rect">
            <a:avLst/>
          </a:prstGeom>
          <a:solidFill>
            <a:srgbClr val="D6E4F7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057400" y="3520440"/>
            <a:ext cx="3108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private: compiler physically blocks outside access to m_expenses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49240" y="3483864"/>
            <a:ext cx="3657600" cy="658368"/>
          </a:xfrm>
          <a:prstGeom prst="rect">
            <a:avLst/>
          </a:prstGeom>
          <a:solidFill>
            <a:srgbClr val="D4EDDA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40680" y="3520440"/>
            <a:ext cx="3474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_name is convention only — external code can still access it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37160" y="4233672"/>
            <a:ext cx="1737360" cy="658368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37160" y="4233672"/>
            <a:ext cx="173736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965960" y="4233672"/>
            <a:ext cx="3291840" cy="658368"/>
          </a:xfrm>
          <a:prstGeom prst="rect">
            <a:avLst/>
          </a:prstGeom>
          <a:solidFill>
            <a:srgbClr val="D6E4F7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057400" y="4270248"/>
            <a:ext cx="3108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the language — no choice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49240" y="4233672"/>
            <a:ext cx="3657600" cy="658368"/>
          </a:xfrm>
          <a:prstGeom prst="rect">
            <a:avLst/>
          </a:prstGeom>
          <a:solidFill>
            <a:srgbClr val="D4EDDA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40680" y="4270248"/>
            <a:ext cx="3474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(list[dict[str,Any]]) — helps IDEs but not enforced at runtime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37160" y="99669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965960" y="99669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/ Qt6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49240" y="9966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PySide6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D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Architecture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365760" y="2606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- shared pattern, different wiring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Model-View-Controller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37160" y="1234440"/>
            <a:ext cx="2057400" cy="41148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7160" y="12344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" y="1737360"/>
            <a:ext cx="2057400" cy="1417320"/>
          </a:xfrm>
          <a:prstGeom prst="rect">
            <a:avLst/>
          </a:prstGeom>
          <a:solidFill>
            <a:srgbClr val="D6E4F7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7160" y="1737360"/>
            <a:ext cx="2057400" cy="201168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" y="17373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312" y="1947672"/>
            <a:ext cx="192024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ExpenseRepository holds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std::vector&lt;ExpenseRecord&gt;.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data — compiler enforced.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7160" y="3246120"/>
            <a:ext cx="2057400" cy="1417320"/>
          </a:xfrm>
          <a:prstGeom prst="rect">
            <a:avLst/>
          </a:prstGeom>
          <a:solidFill>
            <a:srgbClr val="D6E4F7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37160" y="3246120"/>
            <a:ext cx="2057400" cy="201168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" y="324612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0312" y="3456432"/>
            <a:ext cx="192024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ExpenseManager holds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list[dict[str, Any]].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validate_expense() enforces shape.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77440" y="1234440"/>
            <a:ext cx="205740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377440" y="12344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377440" y="1737360"/>
            <a:ext cx="2057400" cy="1417320"/>
          </a:xfrm>
          <a:prstGeom prst="rect">
            <a:avLst/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377440" y="1737360"/>
            <a:ext cx="2057400" cy="201168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377440" y="17373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50592" y="1947672"/>
            <a:ext cx="192024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.ui files compiled by uic at build time.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ExpenseTableModel overrides data().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PieChartWidget paints with QPainter.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3246120"/>
            <a:ext cx="2057400" cy="1417320"/>
          </a:xfrm>
          <a:prstGeom prst="rect">
            <a:avLst/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377440" y="3246120"/>
            <a:ext cx="2057400" cy="201168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377440" y="324612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50592" y="3456432"/>
            <a:ext cx="192024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.ui files loaded at runtime via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uic.loadUiType(). Same table model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with PySide6.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1234440"/>
            <a:ext cx="205740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17720" y="12344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17720" y="1737360"/>
            <a:ext cx="2057400" cy="141732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17720" y="1737360"/>
            <a:ext cx="2057400" cy="201168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17720" y="17373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90872" y="1947672"/>
            <a:ext cx="192024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MainWindow::refresh() is the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update point. Signals/slots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with typed connect().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17720" y="3246120"/>
            <a:ext cx="2057400" cy="141732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17720" y="3246120"/>
            <a:ext cx="2057400" cy="201168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17720" y="324612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90872" y="3456432"/>
            <a:ext cx="192024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MainWindow filters and refreshes.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use @Slot decorator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.connect() method.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58000" y="1234440"/>
            <a:ext cx="205740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58000" y="12344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858000" y="1737360"/>
            <a:ext cx="2057400" cy="1417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858000" y="1737360"/>
            <a:ext cx="2057400" cy="201168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858000" y="17373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31152" y="1947672"/>
            <a:ext cx="192024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QJsonDocument writes 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QStandardPaths::AppLocalDataLocation.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on every write.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58000" y="3246120"/>
            <a:ext cx="2057400" cy="1417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858000" y="3246120"/>
            <a:ext cx="2057400" cy="201168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858000" y="324612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31152" y="3456432"/>
            <a:ext cx="192024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stdlib json module.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ExpenseManager.save_to_json() 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load_from_json().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02920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/ Qt6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663440" y="0"/>
            <a:ext cx="4480560" cy="50292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663440" y="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PySide6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/ Slot Wiring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37160" y="594360"/>
            <a:ext cx="4297680" cy="2514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7160" y="594360"/>
            <a:ext cx="4297680" cy="2011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2024" y="5943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EB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28600" y="850392"/>
            <a:ext cx="4114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Type-safe — compiler checks signature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connect(actAdd,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&amp;QAction::triggered,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&amp;MainWindow::onAdd);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Slot implementation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MainWindow::onAdd()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AddExpenseDialog dlg(this);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(dlg.exec() == QDialog::Accepted)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m_repo-&gt;addExpense(dlg.getRecord());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refresh();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594360"/>
            <a:ext cx="4297680" cy="2514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594360"/>
            <a:ext cx="4297680" cy="2011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64024" y="5943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C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00600" y="850392"/>
            <a:ext cx="4114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Decorator marks the slot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@Slot()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on_add(self) -&gt; None: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dlg = AddEditDialog(self)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dlg.exec() == QDialog.Accepted: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values = dlg.get_values()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self.manager.add_expense(**values)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self.refresh()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Connection wiring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self.add_btn.clicked.connect(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self.on_add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7160" y="3246120"/>
            <a:ext cx="4297680" cy="1371600"/>
          </a:xfrm>
          <a:prstGeom prst="rect">
            <a:avLst/>
          </a:prstGeom>
          <a:solidFill>
            <a:srgbClr val="D6E4F7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37160" y="3246120"/>
            <a:ext cx="4297680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3337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Signal/Slot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6888" y="3703320"/>
            <a:ext cx="40782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Q_OBJECT macro enables meta-object system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connect() uses pointer-to-member — type-checked at compile time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slot signature = compile error, not crash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246120"/>
            <a:ext cx="4297680" cy="1371600"/>
          </a:xfrm>
          <a:prstGeom prst="rect">
            <a:avLst/>
          </a:prstGeom>
          <a:solidFill>
            <a:srgbClr val="D4EDDA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3246120"/>
            <a:ext cx="429768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3337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Signal/Slot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18888" y="3703320"/>
            <a:ext cx="407822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@Slot() decorator registers with PySide6 runtime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.connect() takes any callable — very flexible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name = AttributeError at runtime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02920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/ Qt6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663440" y="0"/>
            <a:ext cx="4480560" cy="50292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663440" y="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PySide6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Add/Edit Dialog &amp; Validation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37160" y="594360"/>
            <a:ext cx="429768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7160" y="594360"/>
            <a:ext cx="4297680" cy="2011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2024" y="5943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EB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28600" y="850392"/>
            <a:ext cx="41148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C++ — UI from compiled .ui file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AddExpenseDialog::AddExpenseDialog(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QWidget* parent)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QDialog(parent)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, m_ui(new Ui::AddExpenseDialog)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m_ui-&gt;setupUi(this);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connect(m_ui-&gt;saveButton,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&amp;QPushButton::clicked,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this, &amp;AddExpenseDialog::onSave);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AddExpenseDialog::validate()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(m_ui-&gt;categoryLineEdit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-&gt;text().trimmed().isEmpty())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QMessageBox::warning(...); return false; 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594360"/>
            <a:ext cx="429768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594360"/>
            <a:ext cx="4297680" cy="2011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64024" y="5943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C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00600" y="850392"/>
            <a:ext cx="41148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 — UI loaded at runtime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AddEditDialog(QDialog):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__init__(self, parent=None,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expense=None):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loader = QUiLoader()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widget = loader.load(ui_file)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self.saveButton = widget.findChild(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QPushButton, 'saveButton')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self.saveButton.clicked.connect(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self.on_save)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on_save(self) -&gt; None: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self.categoryLineEdit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.text().strip(): QMessageBox...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7160" y="2834640"/>
            <a:ext cx="4297680" cy="1280160"/>
          </a:xfrm>
          <a:prstGeom prst="rect">
            <a:avLst/>
          </a:prstGeom>
          <a:solidFill>
            <a:srgbClr val="D6E4F7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37160" y="2834640"/>
            <a:ext cx="4297680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9260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Dialog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6888" y="3291840"/>
            <a:ext cx="40782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Ui:: class generated at compile time — fields are typed properties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setupUi() wires everything; missing widget = linker error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validate() returns bool — caller decides action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834640"/>
            <a:ext cx="4297680" cy="1280160"/>
          </a:xfrm>
          <a:prstGeom prst="rect">
            <a:avLst/>
          </a:prstGeom>
          <a:solidFill>
            <a:srgbClr val="D4EDDA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2834640"/>
            <a:ext cx="429768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29260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Dialog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18888" y="3291840"/>
            <a:ext cx="40782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QUiLoader loads .ui at runtime — very flexible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findChild() looks up widgets by name string — typo = None at runtime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on_save() calls accept() directly after 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02920"/>
          </a:xfrm>
          <a:prstGeom prst="rect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/ Qt6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663440" y="0"/>
            <a:ext cx="4480560" cy="50292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663440" y="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PySide6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Data Persistence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37160" y="594360"/>
            <a:ext cx="429768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7160" y="594360"/>
            <a:ext cx="4297680" cy="2011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2024" y="5943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EB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28600" y="850392"/>
            <a:ext cx="41148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Qt's built-in JSON library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ExpenseRepository::save() const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QJsonArray arr;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(auto&amp; e : m_expenses)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QJsonObject o;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o["date"]   = e.date.toString(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Qt::ISODate);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o["amount"] = e.amount;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arr.append(o);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QFile f(m_filePath);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f.open(WriteOnly);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f.write(QJsonDocument(root).toJson());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594360"/>
            <a:ext cx="429768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594360"/>
            <a:ext cx="4297680" cy="2011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64024" y="5943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C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00600" y="850392"/>
            <a:ext cx="41148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 stdlib — two lines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save_to_json(self,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file_path: str | Path) -&gt; None: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 = Path(file_path)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target.parent.mkdir(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parents=True, exist_ok=True)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target.open('w',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encoding='utf-8')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as handle: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json.dump(self.expenses,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handle, indent=2)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merge=True supports incremental load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7160" y="2926080"/>
            <a:ext cx="8869680" cy="77724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944368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data path: </a:t>
            </a: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QStandardPaths::AppLocalDataLocation — resolves to a per-user OS directory (AppData\Local on Windows, ~/.local/share on Linux). Seeds from shared/data/ on first run only.
</a:t>
            </a: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 path: </a:t>
            </a: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Path(__file__) relative or passed explicitly — works in both dev and packaged (PyInstaller) modes.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37160" y="3794760"/>
            <a:ext cx="4297680" cy="1143000"/>
          </a:xfrm>
          <a:prstGeom prst="rect">
            <a:avLst/>
          </a:prstGeom>
          <a:solidFill>
            <a:srgbClr val="D6E4F7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37160" y="3794760"/>
            <a:ext cx="4297680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38862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Persistence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6888" y="4251960"/>
            <a:ext cx="40782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QJsonDocument — Qt's own library, no dependency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on every single write (add/edit/delete)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load() runs once at startup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3794760"/>
            <a:ext cx="4297680" cy="1143000"/>
          </a:xfrm>
          <a:prstGeom prst="rect">
            <a:avLst/>
          </a:prstGeom>
          <a:solidFill>
            <a:srgbClr val="D4EDDA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09160" y="3794760"/>
            <a:ext cx="429768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0" y="38862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Persistence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18888" y="4251960"/>
            <a:ext cx="40782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json.dump / json.load — zero dependencies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merge=True option allows incremental loading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validate_expense() re-validates on load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D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D55"/>
          </a:solidFill>
          <a:ln w="12700">
            <a:solidFill>
              <a:srgbClr val="1E2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365760" y="2606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 </a:t>
            </a:r>
            <a:br>
              <a:rPr lang="en-US" sz="18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8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each language brings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vs Python — Feature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7160" y="1234440"/>
            <a:ext cx="1828800" cy="329184"/>
          </a:xfrm>
          <a:prstGeom prst="rect">
            <a:avLst/>
          </a:prstGeom>
          <a:solidFill>
            <a:srgbClr val="E8EFF8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" y="12344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57400" y="1234440"/>
            <a:ext cx="3291840" cy="329184"/>
          </a:xfrm>
          <a:prstGeom prst="rect">
            <a:avLst/>
          </a:prstGeom>
          <a:solidFill>
            <a:srgbClr val="D6E4F7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103120" y="123444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with typed fields + isValid()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40680" y="1234440"/>
            <a:ext cx="3566160" cy="329184"/>
          </a:xfrm>
          <a:prstGeom prst="rect">
            <a:avLst/>
          </a:prstGeom>
          <a:solidFill>
            <a:srgbClr val="D4EDDA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0" y="123444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— flexible, validated at entry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" y="15819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2880" y="15819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57400" y="1581912"/>
            <a:ext cx="3291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103120" y="158191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std::vector&lt;T&gt; — typed, compiler enforced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40680" y="1581912"/>
            <a:ext cx="35661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0" y="158191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— untyped, accepts anything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7160" y="1929384"/>
            <a:ext cx="1828800" cy="329184"/>
          </a:xfrm>
          <a:prstGeom prst="rect">
            <a:avLst/>
          </a:prstGeom>
          <a:solidFill>
            <a:srgbClr val="E8EFF8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82880" y="192938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detection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57400" y="1929384"/>
            <a:ext cx="3291840" cy="329184"/>
          </a:xfrm>
          <a:prstGeom prst="rect">
            <a:avLst/>
          </a:prstGeom>
          <a:solidFill>
            <a:srgbClr val="D6E4F7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103120" y="192938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time — before the app runs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40680" y="1929384"/>
            <a:ext cx="3566160" cy="329184"/>
          </a:xfrm>
          <a:prstGeom prst="rect">
            <a:avLst/>
          </a:prstGeom>
          <a:solidFill>
            <a:srgbClr val="D4EDDA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0" y="192938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— when bad data is accessed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37160" y="227685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82880" y="227685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keyword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057400" y="2276856"/>
            <a:ext cx="3291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103120" y="227685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enforced — truly private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40680" y="2276856"/>
            <a:ext cx="35661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0" y="227685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_name convention — not enforced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37160" y="2624328"/>
            <a:ext cx="1828800" cy="329184"/>
          </a:xfrm>
          <a:prstGeom prst="rect">
            <a:avLst/>
          </a:prstGeom>
          <a:solidFill>
            <a:srgbClr val="E8EFF8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82880" y="262432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correctness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57400" y="2624328"/>
            <a:ext cx="3291840" cy="329184"/>
          </a:xfrm>
          <a:prstGeom prst="rect">
            <a:avLst/>
          </a:prstGeom>
          <a:solidFill>
            <a:srgbClr val="D6E4F7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103120" y="262432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read-only methods &amp; params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40680" y="2624328"/>
            <a:ext cx="3566160" cy="329184"/>
          </a:xfrm>
          <a:prstGeom prst="rect">
            <a:avLst/>
          </a:prstGeom>
          <a:solidFill>
            <a:srgbClr val="D4EDDA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86400" y="262432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equivalent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37160" y="297180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82880" y="297180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keyword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057400" y="2971800"/>
            <a:ext cx="3291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103120" y="297180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check on method signature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40680" y="2971800"/>
            <a:ext cx="35661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486400" y="297180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equivalent — silent wrong name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37160" y="3319272"/>
            <a:ext cx="1828800" cy="329184"/>
          </a:xfrm>
          <a:prstGeom prst="rect">
            <a:avLst/>
          </a:prstGeom>
          <a:solidFill>
            <a:srgbClr val="E8EFF8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82880" y="331927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cleanup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057400" y="3319272"/>
            <a:ext cx="3291840" cy="329184"/>
          </a:xfrm>
          <a:prstGeom prst="rect">
            <a:avLst/>
          </a:prstGeom>
          <a:solidFill>
            <a:srgbClr val="D6E4F7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103120" y="331927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RAII + Qt parent-child + manual delete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40680" y="3319272"/>
            <a:ext cx="3566160" cy="329184"/>
          </a:xfrm>
          <a:prstGeom prst="rect">
            <a:avLst/>
          </a:prstGeom>
          <a:solidFill>
            <a:srgbClr val="D4EDDA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486400" y="331927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collector — automatic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37160" y="366674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82880" y="366674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Signal/slot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057400" y="3666744"/>
            <a:ext cx="3291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103120" y="366674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connect() — signature verified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440680" y="3666744"/>
            <a:ext cx="35661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486400" y="366674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@Slot + .connect() — flexible callable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37160" y="4014216"/>
            <a:ext cx="1828800" cy="329184"/>
          </a:xfrm>
          <a:prstGeom prst="rect">
            <a:avLst/>
          </a:prstGeom>
          <a:solidFill>
            <a:srgbClr val="E8EFF8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82880" y="401421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loading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057400" y="4014216"/>
            <a:ext cx="3291840" cy="329184"/>
          </a:xfrm>
          <a:prstGeom prst="rect">
            <a:avLst/>
          </a:prstGeom>
          <a:solidFill>
            <a:srgbClr val="D6E4F7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103120" y="4014216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at build time (uic)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440680" y="4014216"/>
            <a:ext cx="3566160" cy="329184"/>
          </a:xfrm>
          <a:prstGeom prst="rect">
            <a:avLst/>
          </a:prstGeom>
          <a:solidFill>
            <a:srgbClr val="D4EDDA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486400" y="401421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at runtime (QUiLoader)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137160" y="436168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82880" y="436168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057400" y="4361688"/>
            <a:ext cx="3291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2103120" y="436168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QJsonDocument (Qt built-in)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440680" y="4361688"/>
            <a:ext cx="35661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486400" y="436168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stdlib (zero deps)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37160" y="4709160"/>
            <a:ext cx="1828800" cy="329184"/>
          </a:xfrm>
          <a:prstGeom prst="rect">
            <a:avLst/>
          </a:prstGeom>
          <a:solidFill>
            <a:srgbClr val="E8EFF8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182880" y="470916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057400" y="4709160"/>
            <a:ext cx="3291840" cy="329184"/>
          </a:xfrm>
          <a:prstGeom prst="rect">
            <a:avLst/>
          </a:prstGeom>
          <a:solidFill>
            <a:srgbClr val="D6E4F7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2103120" y="470916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CMake + Qt — compiled binary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440680" y="4709160"/>
            <a:ext cx="3566160" cy="329184"/>
          </a:xfrm>
          <a:prstGeom prst="rect">
            <a:avLst/>
          </a:prstGeom>
          <a:solidFill>
            <a:srgbClr val="D4EDDA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5486400" y="470916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PyInstaller — bundles interpreter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137160" y="115214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2057400" y="101203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/ Qt6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5440680" y="101203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PySide6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Theme: When Are Errors Caught?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1280160"/>
            <a:ext cx="1188720" cy="11887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48840" y="1874520"/>
            <a:ext cx="41148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017520" y="1280160"/>
            <a:ext cx="1188720" cy="1188720"/>
          </a:xfrm>
          <a:prstGeom prst="ellipse">
            <a:avLst/>
          </a:prstGeom>
          <a:solidFill>
            <a:srgbClr val="D6E4F7"/>
          </a:solidFill>
          <a:ln w="254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17520" y="128016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1874520"/>
            <a:ext cx="41148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120640" y="1280160"/>
            <a:ext cx="1188720" cy="11887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20640" y="128016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55080" y="1874520"/>
            <a:ext cx="41148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223760" y="1280160"/>
            <a:ext cx="1188720" cy="11887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223760" y="128016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Runs App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03120" y="2697480"/>
            <a:ext cx="2377440" cy="3200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91840" y="2468880"/>
            <a:ext cx="0" cy="228600"/>
          </a:xfrm>
          <a:prstGeom prst="line">
            <a:avLst/>
          </a:prstGeom>
          <a:noFill/>
          <a:ln w="254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103120" y="2697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catches here 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2697480"/>
            <a:ext cx="2377440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680960" y="2468880"/>
            <a:ext cx="0" cy="22860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92240" y="2697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catches here →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7160" y="32004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0080" y="3200400"/>
            <a:ext cx="237744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" y="32004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container type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08960" y="3200400"/>
            <a:ext cx="2743200" cy="502920"/>
          </a:xfrm>
          <a:prstGeom prst="rect">
            <a:avLst/>
          </a:prstGeom>
          <a:solidFill>
            <a:srgbClr val="D6E4F7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154680" y="32004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error — cannot add wrong type to vector&lt;ExpenseRecord&gt;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3200400"/>
            <a:ext cx="3017520" cy="502920"/>
          </a:xfrm>
          <a:prstGeom prst="rect">
            <a:avLst/>
          </a:prstGeom>
          <a:solidFill>
            <a:srgbClr val="D4EDDA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35040" y="32004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AttributeError at runtime when .amount is called on a string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37160" y="37947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✏️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40080" y="3794760"/>
            <a:ext cx="237744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85800" y="37947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 in override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108960" y="3794760"/>
            <a:ext cx="2743200" cy="502920"/>
          </a:xfrm>
          <a:prstGeom prst="rect">
            <a:avLst/>
          </a:prstGeom>
          <a:solidFill>
            <a:srgbClr val="D6E4F7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154680" y="3794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error — 'override' keyword catches wrong method name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89320" y="3794760"/>
            <a:ext cx="3017520" cy="502920"/>
          </a:xfrm>
          <a:prstGeom prst="rect">
            <a:avLst/>
          </a:prstGeom>
          <a:solidFill>
            <a:srgbClr val="D4EDDA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035040" y="3794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new method created — table never redraws, hard to find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37160" y="43891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40080" y="4389120"/>
            <a:ext cx="237744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85800" y="4389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dict key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108960" y="4389120"/>
            <a:ext cx="2743200" cy="502920"/>
          </a:xfrm>
          <a:prstGeom prst="rect">
            <a:avLst/>
          </a:prstGeom>
          <a:solidFill>
            <a:srgbClr val="D6E4F7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154680" y="4389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— struct fields are always present by definition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989320" y="4389120"/>
            <a:ext cx="3017520" cy="502920"/>
          </a:xfrm>
          <a:prstGeom prst="rect">
            <a:avLst/>
          </a:prstGeom>
          <a:solidFill>
            <a:srgbClr val="D4EDDA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035040" y="43891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KeyError at runtime — caught by validate_expense() if called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D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app. Same features. Very different languages.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743200" cy="3154680"/>
          </a:xfrm>
          <a:prstGeom prst="rect">
            <a:avLst/>
          </a:prstGeom>
          <a:solidFill>
            <a:srgbClr val="1C3A6E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743200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7556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C++ strength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25603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catches errors before runtime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memory control (RAII + Qt parent-child)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correctness as live documentation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containers eliminate whole bug classes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55848" y="1691640"/>
            <a:ext cx="2743200" cy="3154680"/>
          </a:xfrm>
          <a:prstGeom prst="rect">
            <a:avLst/>
          </a:prstGeom>
          <a:solidFill>
            <a:srgbClr val="14532D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55848" y="1691640"/>
            <a:ext cx="274320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47288" y="17556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Python strength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47288" y="2148840"/>
            <a:ext cx="25603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less boilerplate — faster to write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flexibility enables dynamic loading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comprehensions are concise and readable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means zero memory management burden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691640"/>
            <a:ext cx="2743200" cy="3154680"/>
          </a:xfrm>
          <a:prstGeom prst="rect">
            <a:avLst/>
          </a:prstGeom>
          <a:solidFill>
            <a:srgbClr val="4A350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54496" y="169164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45936" y="17556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Shared strength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45936" y="2148840"/>
            <a:ext cx="25603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.ui files — Qt Designer used once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JSON format — data is interoperable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MVC pattern — identical architecture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features — parity achieved in both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overarching principle: C++ shifts error detection to compile time. Python is more expressive, with safety enforced at runtime.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3444"/>
            <a:ext cx="836676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685800"/>
            <a:r>
              <a:rPr lang="en-US" sz="25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25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562356"/>
            <a:ext cx="836676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685800"/>
            <a:r>
              <a:rPr lang="en-US" sz="1050" dirty="0">
                <a:solidFill>
                  <a:srgbClr val="D6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Questions?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51510" y="1165860"/>
            <a:ext cx="43205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685800"/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Repository</a:t>
            </a: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1510" y="1508760"/>
            <a:ext cx="82296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685800"/>
            <a:r>
              <a:rPr lang="en-US" sz="1050" dirty="0">
                <a:solidFill>
                  <a:srgbClr val="D6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https://github.com/Ashish-M87/MS_CS_Project_Feb_2026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17220" y="2331720"/>
            <a:ext cx="41148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685800"/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flow</a:t>
            </a: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4380" y="2640330"/>
            <a:ext cx="4251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defTabSz="685800">
              <a:buSzPct val="100000"/>
              <a:buFontTx/>
              <a:buChar char="•"/>
            </a:pPr>
            <a:r>
              <a:rPr lang="en-US" sz="1050" dirty="0">
                <a:solidFill>
                  <a:srgbClr val="D6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Select user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  <a:p>
            <a:pPr marL="171450" indent="-171450" defTabSz="685800">
              <a:buSzPct val="100000"/>
              <a:buFontTx/>
              <a:buChar char="•"/>
            </a:pPr>
            <a:r>
              <a:rPr lang="en-US" sz="1050" dirty="0">
                <a:solidFill>
                  <a:srgbClr val="D6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Add expense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  <a:p>
            <a:pPr marL="171450" indent="-171450" defTabSz="685800">
              <a:buSzPct val="100000"/>
              <a:buFontTx/>
              <a:buChar char="•"/>
            </a:pPr>
            <a:r>
              <a:rPr lang="en-US" sz="1050" dirty="0">
                <a:solidFill>
                  <a:srgbClr val="D6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Filter (date/category)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  <a:p>
            <a:pPr marL="171450" indent="-171450" defTabSz="685800">
              <a:buSzPct val="100000"/>
              <a:buFontTx/>
              <a:buChar char="•"/>
            </a:pPr>
            <a:r>
              <a:rPr lang="en-US" sz="1050" dirty="0">
                <a:solidFill>
                  <a:srgbClr val="D6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4) Review totals + category breakdown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  <a:p>
            <a:pPr marL="171450" indent="-171450" defTabSz="685800">
              <a:buSzPct val="100000"/>
              <a:buFontTx/>
              <a:buChar char="•"/>
            </a:pPr>
            <a:r>
              <a:rPr lang="en-US" sz="1050" dirty="0">
                <a:solidFill>
                  <a:srgbClr val="D6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5) Export CSV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" y="4972050"/>
            <a:ext cx="9143771" cy="171450"/>
          </a:xfrm>
          <a:prstGeom prst="rect">
            <a:avLst/>
          </a:prstGeom>
          <a:solidFill>
            <a:srgbClr val="F3F6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4992624"/>
            <a:ext cx="8366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685800"/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2477</Words>
  <Application>Microsoft Macintosh PowerPoint</Application>
  <PresentationFormat>On-screen Show (16:9)</PresentationFormat>
  <Paragraphs>446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Expense Tracker: C++ vs Python Comparison</dc:title>
  <dc:subject>PptxGenJS Presentation</dc:subject>
  <dc:creator>PptxGenJS</dc:creator>
  <cp:lastModifiedBy>Ashish Bhanudas Mahajan</cp:lastModifiedBy>
  <cp:revision>2</cp:revision>
  <dcterms:created xsi:type="dcterms:W3CDTF">2026-02-22T14:57:19Z</dcterms:created>
  <dcterms:modified xsi:type="dcterms:W3CDTF">2026-02-22T16:04:25Z</dcterms:modified>
</cp:coreProperties>
</file>